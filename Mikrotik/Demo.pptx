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1"/>
  </p:notesMasterIdLst>
  <p:handoutMasterIdLst>
    <p:handoutMasterId r:id="rId22"/>
  </p:handoutMasterIdLst>
  <p:sldIdLst>
    <p:sldId id="256" r:id="rId5"/>
    <p:sldId id="289" r:id="rId6"/>
    <p:sldId id="295" r:id="rId7"/>
    <p:sldId id="299" r:id="rId8"/>
    <p:sldId id="300" r:id="rId9"/>
    <p:sldId id="301" r:id="rId10"/>
    <p:sldId id="296" r:id="rId11"/>
    <p:sldId id="302" r:id="rId12"/>
    <p:sldId id="303" r:id="rId13"/>
    <p:sldId id="304" r:id="rId14"/>
    <p:sldId id="306" r:id="rId15"/>
    <p:sldId id="308" r:id="rId16"/>
    <p:sldId id="307" r:id="rId17"/>
    <p:sldId id="297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09" autoAdjust="0"/>
  </p:normalViewPr>
  <p:slideViewPr>
    <p:cSldViewPr snapToGrid="0">
      <p:cViewPr varScale="1">
        <p:scale>
          <a:sx n="120" d="100"/>
          <a:sy n="120" d="100"/>
        </p:scale>
        <p:origin x="120" y="192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/>
          <a:lstStyle/>
          <a:p>
            <a:r>
              <a:rPr lang="en-US" dirty="0"/>
              <a:t>programación </a:t>
            </a:r>
            <a:r>
              <a:rPr lang="es-BO" dirty="0"/>
              <a:t>grafica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/>
          <a:lstStyle/>
          <a:p>
            <a:r>
              <a:rPr lang="en-US" dirty="0"/>
              <a:t>Javier Choque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1530635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INTRODUCCION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/>
          <a:p>
            <a:r>
              <a:rPr lang="es-BO" dirty="0"/>
              <a:t>Breve descripción e importancia de la programación grafica dentro de la asignatura como unidad de competencia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22254" y="2630431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s-BO" dirty="0"/>
              <a:t>PROGRAMACIÓN GRÁFICA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1828" y="2959856"/>
            <a:ext cx="5431971" cy="557950"/>
          </a:xfrm>
        </p:spPr>
        <p:txBody>
          <a:bodyPr/>
          <a:lstStyle/>
          <a:p>
            <a:r>
              <a:rPr lang="es-BO" dirty="0"/>
              <a:t>Aspectos teóricos a considerar dentro de la programación grafica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22254" y="3730227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DEMOSTRACION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21828" y="4059652"/>
            <a:ext cx="5431971" cy="557950"/>
          </a:xfrm>
        </p:spPr>
        <p:txBody>
          <a:bodyPr/>
          <a:lstStyle/>
          <a:p>
            <a:r>
              <a:rPr lang="es-BO" dirty="0"/>
              <a:t>Aplicación practica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68F40F8-BF35-45E9-B3DD-5436362D746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20106" y="4830024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RESUMEN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F39C97C-2DDC-4706-B96C-B02FAE53A42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919680" y="5159449"/>
            <a:ext cx="5431971" cy="557950"/>
          </a:xfrm>
        </p:spPr>
        <p:txBody>
          <a:bodyPr/>
          <a:lstStyle/>
          <a:p>
            <a:r>
              <a:rPr lang="es-BO" dirty="0"/>
              <a:t>Importancia del la Programación Grafica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A74D661B-510C-4CF2-BF77-3EAFB649883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/>
          <a:p>
            <a:r>
              <a:rPr lang="en-US" dirty="0"/>
              <a:t>2025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E44CAC0-3B5A-49F6-A2CB-0BC80D111A8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/>
          <a:p>
            <a:r>
              <a:rPr lang="en-US" dirty="0"/>
              <a:t>Javier Choque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2571235"/>
            <a:ext cx="4179570" cy="1715531"/>
          </a:xfrm>
        </p:spPr>
        <p:txBody>
          <a:bodyPr/>
          <a:lstStyle/>
          <a:p>
            <a:r>
              <a:rPr lang="es-BO" dirty="0"/>
              <a:t>Introducción</a:t>
            </a:r>
          </a:p>
        </p:txBody>
      </p:sp>
    </p:spTree>
    <p:extLst>
      <p:ext uri="{BB962C8B-B14F-4D97-AF65-F5344CB8AC3E}">
        <p14:creationId xmlns:p14="http://schemas.microsoft.com/office/powerpoint/2010/main" val="1614562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40DF9D-0C9E-4C5D-9635-6B4DE10CCE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18936" y="1253440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Competencia general</a:t>
            </a:r>
            <a:endParaRPr lang="en-US" noProof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297407-CE4E-4284-879D-AEC3957136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0169" y="1788501"/>
            <a:ext cx="5431971" cy="770371"/>
          </a:xfrm>
        </p:spPr>
        <p:txBody>
          <a:bodyPr>
            <a:normAutofit/>
          </a:bodyPr>
          <a:lstStyle/>
          <a:p>
            <a:r>
              <a:rPr lang="es-ES" noProof="1"/>
              <a:t>Desarrollar soluciones visuales utilizando técnicas de programación gráfica aplicadas a diferentes entornos, cumpliendo con estándares de calidad y usabilidad.</a:t>
            </a:r>
            <a:endParaRPr lang="en-US" noProof="1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C3A7BE-F7FC-4942-A31A-491A8A80610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18936" y="2775866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1"/>
              <a:t>Elementos de competencia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CCE699-03D1-4642-B46A-B14EF17DA18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18936" y="3357985"/>
            <a:ext cx="5431971" cy="216015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1"/>
              <a:t>Analizar los requerimientos gráficos de una interfaz de usuario.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1"/>
              <a:t>Diseñar componentes gráficos utilizando principios de diseño visual y experiencia de usuario.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1"/>
              <a:t>Programar gráficos utilizando librerías o lenguajes específicos.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1"/>
              <a:t>Evaluar la funcionalidad y estética de las interfaces gráficas desarrolladas.</a:t>
            </a:r>
            <a:endParaRPr lang="en-US" noProof="1"/>
          </a:p>
        </p:txBody>
      </p:sp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D5DB19F8-B538-4965-BA90-ED372B99F5D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/>
          <a:p>
            <a:r>
              <a:rPr lang="en-US" dirty="0"/>
              <a:t>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5C44B1-BA82-483C-BD91-F89067442F9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/>
          <a:p>
            <a:r>
              <a:rPr lang="en-US" dirty="0"/>
              <a:t>Javier Choque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F6BE348-90FE-5B40-5C7F-C2F0234111F9}"/>
              </a:ext>
            </a:extLst>
          </p:cNvPr>
          <p:cNvSpPr txBox="1">
            <a:spLocks/>
          </p:cNvSpPr>
          <p:nvPr/>
        </p:nvSpPr>
        <p:spPr>
          <a:xfrm>
            <a:off x="1508760" y="4156405"/>
            <a:ext cx="313944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" dirty="0"/>
          </a:p>
          <a:p>
            <a:endParaRPr lang="es-ES" dirty="0"/>
          </a:p>
          <a:p>
            <a:r>
              <a:rPr lang="es-ES" dirty="0"/>
              <a:t>Introducción</a:t>
            </a:r>
          </a:p>
        </p:txBody>
      </p:sp>
    </p:spTree>
    <p:extLst>
      <p:ext uri="{BB962C8B-B14F-4D97-AF65-F5344CB8AC3E}">
        <p14:creationId xmlns:p14="http://schemas.microsoft.com/office/powerpoint/2010/main" val="940475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40DF9D-0C9E-4C5D-9635-6B4DE10CCE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0296" y="1305602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Criterios de evaluación</a:t>
            </a:r>
            <a:endParaRPr lang="en-US" noProof="1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1DF189-6F2F-4C21-88CC-C82D3D0D147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77913" y="4155423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noProof="1"/>
              <a:t>Contexto de aplicación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E82690-B145-4D4F-B2D1-0B2A8C50FD7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19680" y="4633404"/>
            <a:ext cx="5431971" cy="121143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1"/>
              <a:t>Desarrollo de aplicaciones gráficas (simulaciones, dashboards).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1"/>
              <a:t>Interfaces web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1"/>
              <a:t>Proyectos educativos o empresariales que requieren visualización de datos o interacción visual.</a:t>
            </a:r>
            <a:endParaRPr lang="en-US" noProof="1"/>
          </a:p>
        </p:txBody>
      </p:sp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D5DB19F8-B538-4965-BA90-ED372B99F5D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/>
          <a:p>
            <a:r>
              <a:rPr lang="en-US" dirty="0"/>
              <a:t>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5C44B1-BA82-483C-BD91-F89067442F9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/>
          <a:p>
            <a:r>
              <a:rPr lang="en-US" dirty="0"/>
              <a:t>Javier Choque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17" name="Table 50">
            <a:extLst>
              <a:ext uri="{FF2B5EF4-FFF2-40B4-BE49-F238E27FC236}">
                <a16:creationId xmlns:a16="http://schemas.microsoft.com/office/drawing/2014/main" id="{725FAC57-4A97-5291-3971-1B34EDE50D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5731391"/>
              </p:ext>
            </p:extLst>
          </p:nvPr>
        </p:nvGraphicFramePr>
        <p:xfrm>
          <a:off x="5976113" y="1760810"/>
          <a:ext cx="5503770" cy="2172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417">
                  <a:extLst>
                    <a:ext uri="{9D8B030D-6E8A-4147-A177-3AD203B41FA5}">
                      <a16:colId xmlns:a16="http://schemas.microsoft.com/office/drawing/2014/main" val="544038161"/>
                    </a:ext>
                  </a:extLst>
                </a:gridCol>
                <a:gridCol w="3322353">
                  <a:extLst>
                    <a:ext uri="{9D8B030D-6E8A-4147-A177-3AD203B41FA5}">
                      <a16:colId xmlns:a16="http://schemas.microsoft.com/office/drawing/2014/main" val="2284043154"/>
                    </a:ext>
                  </a:extLst>
                </a:gridCol>
              </a:tblGrid>
              <a:tr h="292094">
                <a:tc>
                  <a:txBody>
                    <a:bodyPr/>
                    <a:lstStyle/>
                    <a:p>
                      <a:pPr algn="l"/>
                      <a:r>
                        <a:rPr lang="es-ES" sz="1400" b="0" cap="all" spc="150" baseline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</a:rPr>
                        <a:t>elemento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cap="all" spc="150" baseline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</a:rPr>
                        <a:t>Evidencia Esperada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65677"/>
                  </a:ext>
                </a:extLst>
              </a:tr>
              <a:tr h="436045">
                <a:tc>
                  <a:txBody>
                    <a:bodyPr/>
                    <a:lstStyle/>
                    <a:p>
                      <a:pPr algn="l"/>
                      <a:r>
                        <a:rPr lang="es-ES" sz="12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Análisis de requerimientos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Documento técnico con especificaciones de la interfaz.</a:t>
                      </a:r>
                      <a:endParaRPr lang="ru-RU" sz="12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137574"/>
                  </a:ext>
                </a:extLst>
              </a:tr>
              <a:tr h="366278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Diseño de componentes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noProof="0" dirty="0"/>
                        <a:t>Bocetos o prototipos de la interfaz.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742485"/>
                  </a:ext>
                </a:extLst>
              </a:tr>
              <a:tr h="436045">
                <a:tc>
                  <a:txBody>
                    <a:bodyPr/>
                    <a:lstStyle/>
                    <a:p>
                      <a:pPr algn="l"/>
                      <a:r>
                        <a:rPr lang="es-ES" sz="1200" noProof="0" dirty="0"/>
                        <a:t>Programación gráfica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Código funcional usando JavaScript u otros</a:t>
                      </a:r>
                      <a:endParaRPr lang="ru-RU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6860975"/>
                  </a:ext>
                </a:extLst>
              </a:tr>
              <a:tr h="604463">
                <a:tc>
                  <a:txBody>
                    <a:bodyPr/>
                    <a:lstStyle/>
                    <a:p>
                      <a:pPr algn="l"/>
                      <a:r>
                        <a:rPr lang="es-ES" sz="1200" noProof="0" dirty="0"/>
                        <a:t>Evaluación y mejora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Pruebas de usuario, </a:t>
                      </a:r>
                      <a:r>
                        <a:rPr lang="es-ES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feedback</a:t>
                      </a:r>
                      <a:r>
                        <a:rPr lang="es-E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y ajustes basados en los resultados.</a:t>
                      </a:r>
                      <a:endParaRPr lang="ru-RU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121222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0A77531C-F8C7-68F7-CB24-5B054C683EA4}"/>
              </a:ext>
            </a:extLst>
          </p:cNvPr>
          <p:cNvSpPr txBox="1">
            <a:spLocks/>
          </p:cNvSpPr>
          <p:nvPr/>
        </p:nvSpPr>
        <p:spPr>
          <a:xfrm>
            <a:off x="1508760" y="4156405"/>
            <a:ext cx="313944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" dirty="0"/>
          </a:p>
          <a:p>
            <a:endParaRPr lang="es-ES" dirty="0"/>
          </a:p>
          <a:p>
            <a:r>
              <a:rPr lang="es-ES" dirty="0"/>
              <a:t>Introducción</a:t>
            </a:r>
          </a:p>
        </p:txBody>
      </p:sp>
    </p:spTree>
    <p:extLst>
      <p:ext uri="{BB962C8B-B14F-4D97-AF65-F5344CB8AC3E}">
        <p14:creationId xmlns:p14="http://schemas.microsoft.com/office/powerpoint/2010/main" val="2197130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40DF9D-0C9E-4C5D-9635-6B4DE10CCE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0296" y="1305602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dirty="0"/>
              <a:t>Contenido</a:t>
            </a:r>
            <a:r>
              <a:rPr lang="en-US" dirty="0"/>
              <a:t> </a:t>
            </a:r>
            <a:endParaRPr lang="en-US" noProof="1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1DF189-6F2F-4C21-88CC-C82D3D0D147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77913" y="4155423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noProof="1"/>
              <a:t>Evidencias de aprendizaje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E82690-B145-4D4F-B2D1-0B2A8C50FD7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19680" y="4633404"/>
            <a:ext cx="5431971" cy="1211437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1"/>
              <a:t>Aplicación funcional con elementos gráficos programados.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1"/>
              <a:t>Informe técnico del proceso de desarrollo.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1"/>
              <a:t>Presentación del proyecto con demostración.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1"/>
              <a:t>Participación en sesiones de retroalimentación.</a:t>
            </a:r>
            <a:endParaRPr lang="en-US" noProof="1"/>
          </a:p>
        </p:txBody>
      </p:sp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D5DB19F8-B538-4965-BA90-ED372B99F5D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/>
          <a:p>
            <a:r>
              <a:rPr lang="en-US" dirty="0"/>
              <a:t>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5C44B1-BA82-483C-BD91-F89067442F9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/>
          <a:p>
            <a:r>
              <a:rPr lang="en-US" dirty="0"/>
              <a:t>Javier Choque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9" name="Table 50">
            <a:extLst>
              <a:ext uri="{FF2B5EF4-FFF2-40B4-BE49-F238E27FC236}">
                <a16:creationId xmlns:a16="http://schemas.microsoft.com/office/drawing/2014/main" id="{EF9D2001-7395-52C6-2F67-86E27ED15F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0292636"/>
              </p:ext>
            </p:extLst>
          </p:nvPr>
        </p:nvGraphicFramePr>
        <p:xfrm>
          <a:off x="5977913" y="1920848"/>
          <a:ext cx="5465751" cy="179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3489">
                  <a:extLst>
                    <a:ext uri="{9D8B030D-6E8A-4147-A177-3AD203B41FA5}">
                      <a16:colId xmlns:a16="http://schemas.microsoft.com/office/drawing/2014/main" val="544038161"/>
                    </a:ext>
                  </a:extLst>
                </a:gridCol>
                <a:gridCol w="3462262">
                  <a:extLst>
                    <a:ext uri="{9D8B030D-6E8A-4147-A177-3AD203B41FA5}">
                      <a16:colId xmlns:a16="http://schemas.microsoft.com/office/drawing/2014/main" val="2284043154"/>
                    </a:ext>
                  </a:extLst>
                </a:gridCol>
              </a:tblGrid>
              <a:tr h="292094">
                <a:tc>
                  <a:txBody>
                    <a:bodyPr/>
                    <a:lstStyle/>
                    <a:p>
                      <a:pPr algn="l"/>
                      <a:r>
                        <a:rPr lang="en-US" sz="1400" b="0" cap="all" spc="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</a:rPr>
                        <a:t>Modulo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cap="all" spc="150" baseline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</a:rPr>
                        <a:t>Contenido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65677"/>
                  </a:ext>
                </a:extLst>
              </a:tr>
              <a:tr h="384853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Fundamentos </a:t>
                      </a:r>
                      <a:r>
                        <a:rPr lang="es-ES" sz="12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Gráficos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Coordenadas, color, pixeles, resoluciones, </a:t>
                      </a:r>
                      <a:r>
                        <a:rPr lang="es-ES" sz="12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bufer</a:t>
                      </a:r>
                      <a:r>
                        <a:rPr lang="es-ES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ru-RU" sz="12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137574"/>
                  </a:ext>
                </a:extLst>
              </a:tr>
              <a:tr h="310101">
                <a:tc>
                  <a:txBody>
                    <a:bodyPr/>
                    <a:lstStyle/>
                    <a:p>
                      <a:r>
                        <a:rPr lang="en-US" sz="1200" dirty="0"/>
                        <a:t>Herramientas de desarrollo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VSCode</a:t>
                      </a:r>
                      <a:r>
                        <a:rPr lang="en-US" sz="1200" dirty="0"/>
                        <a:t>, Git, </a:t>
                      </a:r>
                      <a:r>
                        <a:rPr lang="en-US" sz="1200" dirty="0" err="1"/>
                        <a:t>Github</a:t>
                      </a:r>
                      <a:r>
                        <a:rPr lang="en-US" sz="1200" dirty="0"/>
                        <a:t> y </a:t>
                      </a:r>
                      <a:r>
                        <a:rPr lang="en-US" sz="1200" b="1" dirty="0"/>
                        <a:t>JavaScript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742485"/>
                  </a:ext>
                </a:extLst>
              </a:tr>
              <a:tr h="333955">
                <a:tc>
                  <a:txBody>
                    <a:bodyPr/>
                    <a:lstStyle/>
                    <a:p>
                      <a:r>
                        <a:rPr lang="en-US" sz="1200" dirty="0"/>
                        <a:t>Programación de </a:t>
                      </a:r>
                      <a:r>
                        <a:rPr lang="es-ES" sz="1200" noProof="0" dirty="0"/>
                        <a:t>gráficos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Figuras básicas, interacción con mouse/teclado.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6860975"/>
                  </a:ext>
                </a:extLst>
              </a:tr>
              <a:tr h="2387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noProof="0" dirty="0"/>
                        <a:t>Proyecto integrador</a:t>
                      </a:r>
                    </a:p>
                    <a:p>
                      <a:endParaRPr 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/>
                        <a:t>Desarrollo completo de una aplicación gráfica.</a:t>
                      </a:r>
                    </a:p>
                    <a:p>
                      <a:endParaRPr lang="en-US" sz="1200" dirty="0"/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754043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9B72CE73-726F-0D3B-FDA4-04EEEE6486BA}"/>
              </a:ext>
            </a:extLst>
          </p:cNvPr>
          <p:cNvSpPr txBox="1">
            <a:spLocks/>
          </p:cNvSpPr>
          <p:nvPr/>
        </p:nvSpPr>
        <p:spPr>
          <a:xfrm>
            <a:off x="1508760" y="4156405"/>
            <a:ext cx="313944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" dirty="0"/>
          </a:p>
          <a:p>
            <a:endParaRPr lang="es-ES" dirty="0"/>
          </a:p>
          <a:p>
            <a:r>
              <a:rPr lang="es-ES" dirty="0"/>
              <a:t>Introducción</a:t>
            </a:r>
          </a:p>
        </p:txBody>
      </p:sp>
    </p:spTree>
    <p:extLst>
      <p:ext uri="{BB962C8B-B14F-4D97-AF65-F5344CB8AC3E}">
        <p14:creationId xmlns:p14="http://schemas.microsoft.com/office/powerpoint/2010/main" val="750370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2571235"/>
            <a:ext cx="4179570" cy="1715531"/>
          </a:xfrm>
        </p:spPr>
        <p:txBody>
          <a:bodyPr/>
          <a:lstStyle/>
          <a:p>
            <a:r>
              <a:rPr lang="es-BO" dirty="0"/>
              <a:t>PROGRAMACIÓN GRÁFICA</a:t>
            </a:r>
          </a:p>
        </p:txBody>
      </p:sp>
    </p:spTree>
    <p:extLst>
      <p:ext uri="{BB962C8B-B14F-4D97-AF65-F5344CB8AC3E}">
        <p14:creationId xmlns:p14="http://schemas.microsoft.com/office/powerpoint/2010/main" val="1841791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/>
          <a:lstStyle/>
          <a:p>
            <a:pPr algn="l"/>
            <a:r>
              <a:rPr lang="es-BO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Fundamentos Gráficos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DDDEF-20C4-4F65-BAC9-0A763DF7E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93998" y="1999072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s-ES" dirty="0"/>
              <a:t>Sistemas de coordenadas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4158E79-DA49-4521-BEC6-A7BA93C41F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93572" y="2328497"/>
            <a:ext cx="5431971" cy="557950"/>
          </a:xfrm>
        </p:spPr>
        <p:txBody>
          <a:bodyPr>
            <a:normAutofit/>
          </a:bodyPr>
          <a:lstStyle/>
          <a:p>
            <a:r>
              <a:rPr lang="es-ES" dirty="0"/>
              <a:t>Coordenadas cartesianas, absolutas, ejes X/Y , origen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19E41BC-4F05-4804-843A-E1846794FBF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893998" y="3098868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s-ES" dirty="0"/>
              <a:t>Píxeles y resolución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BDF8B9-53DF-46F4-98D4-053D78D610B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93572" y="3428293"/>
            <a:ext cx="5431971" cy="557950"/>
          </a:xfrm>
        </p:spPr>
        <p:txBody>
          <a:bodyPr>
            <a:normAutofit fontScale="92500" lnSpcReduction="20000"/>
          </a:bodyPr>
          <a:lstStyle/>
          <a:p>
            <a:r>
              <a:rPr lang="es-ES" dirty="0"/>
              <a:t>Qué es un píxel, resolución, tamaños de pantalla</a:t>
            </a:r>
          </a:p>
          <a:p>
            <a:r>
              <a:rPr lang="en-US" dirty="0"/>
              <a:t>HD(1280x720), FHD(1920x1080), y 4K(3840x2160)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FD0A14C-4421-4979-AF8C-F7E649A8816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893998" y="4198664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s-ES" dirty="0"/>
              <a:t>Color en gráficos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9C0DB469-503B-40AF-84D1-C69B085AA96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93572" y="4528089"/>
            <a:ext cx="5431971" cy="557950"/>
          </a:xfrm>
        </p:spPr>
        <p:txBody>
          <a:bodyPr>
            <a:normAutofit/>
          </a:bodyPr>
          <a:lstStyle/>
          <a:p>
            <a:r>
              <a:rPr lang="es-ES" dirty="0"/>
              <a:t>Modelo RGB, hexadecimal, profundidad de color, combinaciones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C0E0A-2715-4BF9-8659-0ED8629BA2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75224-81EB-4CDA-BBBE-44B4B2F3C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Javier Choque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2F697-D1D4-4B0A-B960-D1869BF8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76E030A9-AF13-AE47-9713-D2864A098881}"/>
              </a:ext>
            </a:extLst>
          </p:cNvPr>
          <p:cNvSpPr txBox="1">
            <a:spLocks/>
          </p:cNvSpPr>
          <p:nvPr/>
        </p:nvSpPr>
        <p:spPr>
          <a:xfrm>
            <a:off x="5892339" y="5115897"/>
            <a:ext cx="5433204" cy="3651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b-NO" dirty="0"/>
              <a:t>Frame buffeR</a:t>
            </a:r>
            <a:endParaRPr lang="es-ES" dirty="0"/>
          </a:p>
        </p:txBody>
      </p:sp>
      <p:sp>
        <p:nvSpPr>
          <p:cNvPr id="8" name="Text Placeholder 24">
            <a:extLst>
              <a:ext uri="{FF2B5EF4-FFF2-40B4-BE49-F238E27FC236}">
                <a16:creationId xmlns:a16="http://schemas.microsoft.com/office/drawing/2014/main" id="{9D16440A-C36E-CC40-F307-0791C0D0CF60}"/>
              </a:ext>
            </a:extLst>
          </p:cNvPr>
          <p:cNvSpPr txBox="1">
            <a:spLocks/>
          </p:cNvSpPr>
          <p:nvPr/>
        </p:nvSpPr>
        <p:spPr>
          <a:xfrm>
            <a:off x="5891913" y="5445322"/>
            <a:ext cx="5431971" cy="557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Qué es un buffer, cómo se almacena una imagen, parpadeo y técnicas de suavizado (Doble buffer o Suavizado de bordes)</a:t>
            </a:r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285599F-364A-C522-5A09-D6AA5C8B3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10715"/>
            <a:ext cx="4313582" cy="4313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4320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Herramientas de desarrollo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DDDEF-20C4-4F65-BAC9-0A763DF7E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0169" y="2001282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s-ES" dirty="0"/>
              <a:t>Entornos de desarrollo (IDE)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4158E79-DA49-4521-BEC6-A7BA93C41F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0169" y="2348557"/>
            <a:ext cx="5431971" cy="557950"/>
          </a:xfrm>
        </p:spPr>
        <p:txBody>
          <a:bodyPr>
            <a:normAutofit/>
          </a:bodyPr>
          <a:lstStyle/>
          <a:p>
            <a:r>
              <a:rPr lang="en-US" dirty="0"/>
              <a:t>Visual Studio Code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19E41BC-4F05-4804-843A-E1846794FBF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20169" y="2830155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git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BDF8B9-53DF-46F4-98D4-053D78D610B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0169" y="3300632"/>
            <a:ext cx="5431971" cy="557950"/>
          </a:xfrm>
        </p:spPr>
        <p:txBody>
          <a:bodyPr/>
          <a:lstStyle/>
          <a:p>
            <a:r>
              <a:rPr lang="es-ES" dirty="0"/>
              <a:t>Herramientas de control de versiones (Git) para gestionar el ciclo de vida del código fuente en proyectos gráficos</a:t>
            </a:r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FD0A14C-4421-4979-AF8C-F7E649A8816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20169" y="4075953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GITHUB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9C0DB469-503B-40AF-84D1-C69B085AA96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94614" y="4491594"/>
            <a:ext cx="5431971" cy="557950"/>
          </a:xfrm>
        </p:spPr>
        <p:txBody>
          <a:bodyPr>
            <a:normAutofit/>
          </a:bodyPr>
          <a:lstStyle/>
          <a:p>
            <a:r>
              <a:rPr lang="es-ES" dirty="0"/>
              <a:t>Entorno colaborativo para alojar, documentar y compartir proyectos de programación gráfica, permitiendo el control de versiones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C0E0A-2715-4BF9-8659-0ED8629BA2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75224-81EB-4CDA-BBBE-44B4B2F3C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Javier Choque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2F697-D1D4-4B0A-B960-D1869BF8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9D50725-A8C9-1662-B5BA-227BA1F36AA6}"/>
              </a:ext>
            </a:extLst>
          </p:cNvPr>
          <p:cNvSpPr txBox="1">
            <a:spLocks/>
          </p:cNvSpPr>
          <p:nvPr/>
        </p:nvSpPr>
        <p:spPr>
          <a:xfrm>
            <a:off x="5893381" y="5159273"/>
            <a:ext cx="5433204" cy="365125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JavaScript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FDF88E04-EAAC-F26E-E12A-EA66CC783B5D}"/>
              </a:ext>
            </a:extLst>
          </p:cNvPr>
          <p:cNvSpPr txBox="1">
            <a:spLocks/>
          </p:cNvSpPr>
          <p:nvPr/>
        </p:nvSpPr>
        <p:spPr>
          <a:xfrm>
            <a:off x="5920169" y="5660339"/>
            <a:ext cx="5431971" cy="5579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Lenguaje</a:t>
            </a:r>
            <a:r>
              <a:rPr lang="es-ES" dirty="0"/>
              <a:t> de programación para desarrollar gráficos interactivos en el navegador, integrando conceptos como </a:t>
            </a:r>
            <a:r>
              <a:rPr lang="es-ES" dirty="0" err="1"/>
              <a:t>canvas</a:t>
            </a:r>
            <a:r>
              <a:rPr lang="es-ES" dirty="0"/>
              <a:t> y eventos del usuario.</a:t>
            </a:r>
            <a:endParaRPr 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E5749D8F-6A0A-BB5A-9795-E7578C02A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042" y="582135"/>
            <a:ext cx="2324372" cy="2324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3F23FC4E-D182-4D0E-CD3A-039679B8D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8749" y="3858582"/>
            <a:ext cx="4691503" cy="2189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196BEC53-06C9-ECA8-8943-2AA83A561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647" y="2391079"/>
            <a:ext cx="2435905" cy="243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830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0223" y="274955"/>
            <a:ext cx="5431971" cy="846301"/>
          </a:xfrm>
        </p:spPr>
        <p:txBody>
          <a:bodyPr/>
          <a:lstStyle/>
          <a:p>
            <a:r>
              <a:rPr lang="es-ES" sz="2800" dirty="0"/>
              <a:t>Programación de gráficos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DDDEF-20C4-4F65-BAC9-0A763DF7E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80223" y="938693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s-ES" dirty="0"/>
              <a:t>Figuras básicas	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4158E79-DA49-4521-BEC6-A7BA93C41F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15341" y="1348340"/>
            <a:ext cx="5431971" cy="557950"/>
          </a:xfrm>
        </p:spPr>
        <p:txBody>
          <a:bodyPr>
            <a:normAutofit/>
          </a:bodyPr>
          <a:lstStyle/>
          <a:p>
            <a:r>
              <a:rPr lang="es-ES" dirty="0"/>
              <a:t>Líneas, rectángulos, círculos y texto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C0E0A-2715-4BF9-8659-0ED8629BA2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75224-81EB-4CDA-BBBE-44B4B2F3C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Javier Choque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2F697-D1D4-4B0A-B960-D1869BF8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FF704A5-47BE-7853-9C20-EAC7FD592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79" y="199245"/>
            <a:ext cx="5244389" cy="377640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BD589B5-E749-CE37-4876-C99C3A139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626" y="3984620"/>
            <a:ext cx="3143250" cy="226695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117A267-C0FD-7374-BE50-903FFD995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223" y="1788233"/>
            <a:ext cx="4689485" cy="439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262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3779" y="335618"/>
            <a:ext cx="5431971" cy="846301"/>
          </a:xfrm>
        </p:spPr>
        <p:txBody>
          <a:bodyPr/>
          <a:lstStyle/>
          <a:p>
            <a:r>
              <a:rPr lang="es-ES" sz="2800" dirty="0"/>
              <a:t>Programación de gráficos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19E41BC-4F05-4804-843A-E1846794FBF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18936" y="903603"/>
            <a:ext cx="5433204" cy="365125"/>
          </a:xfrm>
        </p:spPr>
        <p:txBody>
          <a:bodyPr>
            <a:normAutofit fontScale="92500"/>
          </a:bodyPr>
          <a:lstStyle/>
          <a:p>
            <a:r>
              <a:rPr lang="es-ES" dirty="0"/>
              <a:t> Coordenadas y transformación	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BDF8B9-53DF-46F4-98D4-053D78D610B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69957" y="1278763"/>
            <a:ext cx="5431971" cy="846300"/>
          </a:xfrm>
        </p:spPr>
        <p:txBody>
          <a:bodyPr>
            <a:normAutofit fontScale="92500" lnSpcReduction="20000"/>
          </a:bodyPr>
          <a:lstStyle/>
          <a:p>
            <a:r>
              <a:rPr lang="es-ES" dirty="0"/>
              <a:t> Sistema de coordenadas, traslación, rotación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El origen (0,0) está en la esquina superior izquierda.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El eje X aumenta hacia la derecha, el eje Y hacia abajo.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C0E0A-2715-4BF9-8659-0ED8629BA2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75224-81EB-4CDA-BBBE-44B4B2F3C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Javier Choque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2F697-D1D4-4B0A-B960-D1869BF8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2F9DE4F-D9A6-8F67-A466-8A458B948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3779" y="2392866"/>
            <a:ext cx="5991225" cy="38766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6C856DC-BA1C-EC0A-0BE7-6225299A1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73" y="1281112"/>
            <a:ext cx="4953000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190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8936" y="296005"/>
            <a:ext cx="5431971" cy="846301"/>
          </a:xfrm>
        </p:spPr>
        <p:txBody>
          <a:bodyPr/>
          <a:lstStyle/>
          <a:p>
            <a:r>
              <a:rPr lang="es-ES" sz="2800" dirty="0"/>
              <a:t>Programación de gráficos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FD0A14C-4421-4979-AF8C-F7E649A8816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18936" y="905493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s-ES" dirty="0"/>
              <a:t>Animaciones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9C0DB469-503B-40AF-84D1-C69B085AA96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18936" y="1270617"/>
            <a:ext cx="5431971" cy="963699"/>
          </a:xfrm>
        </p:spPr>
        <p:txBody>
          <a:bodyPr>
            <a:normAutofit/>
          </a:bodyPr>
          <a:lstStyle/>
          <a:p>
            <a:r>
              <a:rPr lang="en-US" dirty="0" err="1"/>
              <a:t>requestAnimationFrame</a:t>
            </a:r>
            <a:r>
              <a:rPr lang="en-US" dirty="0"/>
              <a:t>, </a:t>
            </a:r>
            <a:r>
              <a:rPr lang="en-US" dirty="0" err="1"/>
              <a:t>bucles</a:t>
            </a:r>
            <a:r>
              <a:rPr lang="en-US" dirty="0"/>
              <a:t> de </a:t>
            </a:r>
            <a:r>
              <a:rPr lang="en-US" dirty="0" err="1"/>
              <a:t>dibujo</a:t>
            </a:r>
            <a:endParaRPr lang="en-US" dirty="0"/>
          </a:p>
          <a:p>
            <a:r>
              <a:rPr lang="es-ES" dirty="0"/>
              <a:t>Es un método que permite dibujar animaciones sincronizadas con la tasa de refresco del monitor (60 FPS por defecto)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C0E0A-2715-4BF9-8659-0ED8629BA2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75224-81EB-4CDA-BBBE-44B4B2F3C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Javier Choque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2F697-D1D4-4B0A-B960-D1869BF8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F623538-2873-CCF5-CA24-C09D4FB39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57" y="1457325"/>
            <a:ext cx="4848225" cy="39433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0FBC329-8B69-5520-7E83-5E3A1B9FC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782" y="2256113"/>
            <a:ext cx="6134100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066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8936" y="296005"/>
            <a:ext cx="5431971" cy="846301"/>
          </a:xfrm>
        </p:spPr>
        <p:txBody>
          <a:bodyPr/>
          <a:lstStyle/>
          <a:p>
            <a:r>
              <a:rPr lang="es-ES" sz="2800" dirty="0"/>
              <a:t>Programación de gráficos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DDDEF-20C4-4F65-BAC9-0A763DF7E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83780" y="933381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s-ES" dirty="0"/>
              <a:t>Interacción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4158E79-DA49-4521-BEC6-A7BA93C41F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83780" y="1380109"/>
            <a:ext cx="5431971" cy="557950"/>
          </a:xfrm>
        </p:spPr>
        <p:txBody>
          <a:bodyPr>
            <a:normAutofit/>
          </a:bodyPr>
          <a:lstStyle/>
          <a:p>
            <a:r>
              <a:rPr lang="es-ES" dirty="0"/>
              <a:t>Eventos de mouse y teclado, detección de colisión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C0E0A-2715-4BF9-8659-0ED8629BA2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75224-81EB-4CDA-BBBE-44B4B2F3C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2F697-D1D4-4B0A-B960-D1869BF8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B03AB12-8854-2CA9-7202-E85D3E8C74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952650"/>
              </p:ext>
            </p:extLst>
          </p:nvPr>
        </p:nvGraphicFramePr>
        <p:xfrm>
          <a:off x="5983780" y="1850060"/>
          <a:ext cx="5499652" cy="2240080"/>
        </p:xfrm>
        <a:graphic>
          <a:graphicData uri="http://schemas.openxmlformats.org/drawingml/2006/table">
            <a:tbl>
              <a:tblPr/>
              <a:tblGrid>
                <a:gridCol w="1722617">
                  <a:extLst>
                    <a:ext uri="{9D8B030D-6E8A-4147-A177-3AD203B41FA5}">
                      <a16:colId xmlns:a16="http://schemas.microsoft.com/office/drawing/2014/main" val="2336442973"/>
                    </a:ext>
                  </a:extLst>
                </a:gridCol>
                <a:gridCol w="3777035">
                  <a:extLst>
                    <a:ext uri="{9D8B030D-6E8A-4147-A177-3AD203B41FA5}">
                      <a16:colId xmlns:a16="http://schemas.microsoft.com/office/drawing/2014/main" val="1064605037"/>
                    </a:ext>
                  </a:extLst>
                </a:gridCol>
              </a:tblGrid>
              <a:tr h="344628">
                <a:tc>
                  <a:txBody>
                    <a:bodyPr/>
                    <a:lstStyle/>
                    <a:p>
                      <a:r>
                        <a:rPr lang="es-ES" sz="1400" b="1" dirty="0"/>
                        <a:t>Tema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Subtemas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7586162"/>
                  </a:ext>
                </a:extLst>
              </a:tr>
              <a:tr h="344628">
                <a:tc>
                  <a:txBody>
                    <a:bodyPr/>
                    <a:lstStyle/>
                    <a:p>
                      <a:r>
                        <a:rPr lang="es-ES" sz="1400"/>
                        <a:t>Eventos de mouse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mousemove, mousedown, mouseup, click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941554"/>
                  </a:ext>
                </a:extLst>
              </a:tr>
              <a:tr h="344628">
                <a:tc>
                  <a:txBody>
                    <a:bodyPr/>
                    <a:lstStyle/>
                    <a:p>
                      <a:r>
                        <a:rPr lang="es-ES" sz="1400"/>
                        <a:t>Eventos de teclado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keydown, keyup, keypress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5997776"/>
                  </a:ext>
                </a:extLst>
              </a:tr>
              <a:tr h="603098">
                <a:tc>
                  <a:txBody>
                    <a:bodyPr/>
                    <a:lstStyle/>
                    <a:p>
                      <a:r>
                        <a:rPr lang="es-ES" sz="1400"/>
                        <a:t>Detección de colisiones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Rectángulo vs rectángulo (AABB), círculo vs círculo (distancia entre centros)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7238669"/>
                  </a:ext>
                </a:extLst>
              </a:tr>
              <a:tr h="603098">
                <a:tc>
                  <a:txBody>
                    <a:bodyPr/>
                    <a:lstStyle/>
                    <a:p>
                      <a:r>
                        <a:rPr lang="es-ES" sz="1400"/>
                        <a:t>Lógica de interacción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Activar movimiento, cambiar color, mover objetos con teclas, etc.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0020072"/>
                  </a:ext>
                </a:extLst>
              </a:tr>
            </a:tbl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B26A3527-3E6C-A94E-A49B-FC8CBBDD8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518" y="4132851"/>
            <a:ext cx="2958176" cy="240606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A92F1DF-ADC8-669F-2CFA-9D4B20EBC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67" y="440083"/>
            <a:ext cx="4667250" cy="58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990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2571235"/>
            <a:ext cx="4179570" cy="1715531"/>
          </a:xfrm>
        </p:spPr>
        <p:txBody>
          <a:bodyPr/>
          <a:lstStyle/>
          <a:p>
            <a:r>
              <a:rPr lang="en-US" dirty="0"/>
              <a:t>DEMOSTRACION </a:t>
            </a:r>
          </a:p>
        </p:txBody>
      </p:sp>
    </p:spTree>
    <p:extLst>
      <p:ext uri="{BB962C8B-B14F-4D97-AF65-F5344CB8AC3E}">
        <p14:creationId xmlns:p14="http://schemas.microsoft.com/office/powerpoint/2010/main" val="4084347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5" y="1671639"/>
            <a:ext cx="5111750" cy="1204912"/>
          </a:xfrm>
        </p:spPr>
        <p:txBody>
          <a:bodyPr/>
          <a:lstStyle/>
          <a:p>
            <a:r>
              <a:rPr lang="es-ES" dirty="0"/>
              <a:t>Resumen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BBEAF-B516-45F4-9EF6-A9F651115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just"/>
            <a:r>
              <a:rPr lang="es-ES" dirty="0"/>
              <a:t>La programación gráfica es una rama enfocada en la creación, manipulación y representación visual de datos mediante imágenes generadas por computadora.</a:t>
            </a:r>
          </a:p>
          <a:p>
            <a:pPr algn="just"/>
            <a:r>
              <a:rPr lang="es-ES" dirty="0"/>
              <a:t>Permite que los programas generen interfaces visuales, animaciones, simulaciones, visualización de datos y más.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8C8B5-F6EC-489B-BD0F-CD89A73CAB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EA823-8519-4F9D-81FA-36731310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Javier Choque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FF51B-0E28-4171-AE7C-A31AAB42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Gracias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/>
          <a:p>
            <a:r>
              <a:rPr lang="es-ES" b="0" i="0" dirty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¿</a:t>
            </a:r>
            <a:r>
              <a:rPr lang="en-US" dirty="0"/>
              <a:t>Preguntas?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A7980-C870-4C9A-84FA-4120D8AF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/>
          <a:p>
            <a:r>
              <a:rPr lang="en-US" dirty="0"/>
              <a:t>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ADE42-1A3F-40C8-A071-E57644F3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/>
          <a:p>
            <a:r>
              <a:rPr lang="en-US" dirty="0"/>
              <a:t>Javier Choque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533</TotalTime>
  <Words>668</Words>
  <Application>Microsoft Office PowerPoint</Application>
  <PresentationFormat>Widescreen</PresentationFormat>
  <Paragraphs>146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Tenorite</vt:lpstr>
      <vt:lpstr>Monoline</vt:lpstr>
      <vt:lpstr>programación grafica</vt:lpstr>
      <vt:lpstr>Agenda</vt:lpstr>
      <vt:lpstr>Introducción</vt:lpstr>
      <vt:lpstr>PowerPoint Presentation</vt:lpstr>
      <vt:lpstr>PowerPoint Presentation</vt:lpstr>
      <vt:lpstr>PowerPoint Presentation</vt:lpstr>
      <vt:lpstr>PROGRAMACIÓN GRÁFICA</vt:lpstr>
      <vt:lpstr>Fundamentos Gráficos</vt:lpstr>
      <vt:lpstr>Herramientas de desarrollo</vt:lpstr>
      <vt:lpstr>Programación de gráficos</vt:lpstr>
      <vt:lpstr>Programación de gráficos</vt:lpstr>
      <vt:lpstr>Programación de gráficos</vt:lpstr>
      <vt:lpstr>Programación de gráficos</vt:lpstr>
      <vt:lpstr>DEMOSTRACION </vt:lpstr>
      <vt:lpstr>Resumen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grafica</dc:title>
  <dc:creator>Javier</dc:creator>
  <cp:lastModifiedBy>Javier</cp:lastModifiedBy>
  <cp:revision>3</cp:revision>
  <dcterms:created xsi:type="dcterms:W3CDTF">2025-04-15T18:37:32Z</dcterms:created>
  <dcterms:modified xsi:type="dcterms:W3CDTF">2025-04-16T04:40:33Z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